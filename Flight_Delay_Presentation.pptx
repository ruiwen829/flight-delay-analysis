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1352"/>
  </p:normalViewPr>
  <p:slideViewPr>
    <p:cSldViewPr snapToGrid="0" snapToObjects="1">
      <p:cViewPr varScale="1">
        <p:scale>
          <a:sx n="104" d="100"/>
          <a:sy n="104" d="100"/>
        </p:scale>
        <p:origin x="14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6976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BLOOMBERG DATA SCIENCE CASE STUDY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75520" y="2560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Ruiwen Zhang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/>
            </a:pPr>
            <a:r>
              <a:t>Can we identify flights at high risk of delay early enough for an airline operations team to act?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U.S. domestic flights · 2024–2025</a:t>
            </a: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E7C94815-3B7A-3241-9CB5-B6C8A107A7C3}"/>
              </a:ext>
            </a:extLst>
          </p:cNvPr>
          <p:cNvSpPr/>
          <p:nvPr/>
        </p:nvSpPr>
        <p:spPr>
          <a:xfrm>
            <a:off x="914400" y="1180579"/>
            <a:ext cx="6583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</a:rPr>
              <a:t>U.S. Flight Delay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</a:rPr>
              <a:t>Analysis &amp; Prediction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</a:rPr>
              <a:t>1. Problem Frame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117043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The same model would be designed differently for passengers and airline operations.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0749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38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</a:rPr>
              <a:t>Passenger-facing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0120" y="2615184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1288" y="2514600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Earlier warning is more useful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0120" y="3182112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61288" y="3081528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dirty="0"/>
              <a:t>Predicted risk should match what happens in practice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0120" y="3749040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648456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False alerts can reduce trust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1691640"/>
            <a:ext cx="5074920" cy="3246120"/>
          </a:xfrm>
          <a:prstGeom prst="roundRect">
            <a:avLst>
              <a:gd name="adj" fmla="val 225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9385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</a:rPr>
              <a:t>Airline operations — chosen use case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46520" y="2615184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47688" y="2514600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Prioritize flights that may need attention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46520" y="3182112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7688" y="3081528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Use recent operational signals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46520" y="3749040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47688" y="3648456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Still leave time to intervene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103120" y="5257800"/>
            <a:ext cx="8001000" cy="749808"/>
          </a:xfrm>
          <a:prstGeom prst="roundRect">
            <a:avLst>
              <a:gd name="adj" fmla="val 975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0" y="5504688"/>
            <a:ext cx="7452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At T−2h, which operating flights are most likely to arrive ≥15 minutes late?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1040" y="704087"/>
            <a:ext cx="375288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US" dirty="0"/>
              <a:t>2. </a:t>
            </a:r>
            <a:r>
              <a:rPr dirty="0"/>
              <a:t>Data &amp; </a:t>
            </a:r>
            <a:r>
              <a:rPr lang="en-US" dirty="0"/>
              <a:t>D</a:t>
            </a:r>
            <a:r>
              <a:rPr dirty="0"/>
              <a:t>ata </a:t>
            </a:r>
            <a:r>
              <a:rPr lang="en-US" dirty="0"/>
              <a:t>Q</a:t>
            </a:r>
            <a:r>
              <a:rPr dirty="0"/>
              <a:t>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1040" y="153105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/>
            </a:pPr>
            <a:r>
              <a:t>Three 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80" y="2079696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/>
            </a:pPr>
            <a:r>
              <a:t>BTS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98319" y="2079696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Flight schedule, actual operations, target and delay causes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" y="2948376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/>
            </a:pPr>
            <a:r>
              <a:t>FAA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8319" y="2948376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Aircraft model, manufacture year and seating capacity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80" y="3817055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/>
            </a:pPr>
            <a:r>
              <a:t>IEM ASOS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98319" y="3817055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Recent origin weather available at prediction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30240" y="1531056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/>
            </a:pPr>
            <a:r>
              <a:t>How I handled missing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21680" y="1933392"/>
            <a:ext cx="608871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rPr dirty="0"/>
              <a:t>• Cancelled / diverted flights: arrival fields are structurally </a:t>
            </a:r>
            <a:endParaRPr lang="en-US" dirty="0"/>
          </a:p>
          <a:p>
            <a:pPr>
              <a:defRPr sz="1500"/>
            </a:pPr>
            <a:r>
              <a:rPr dirty="0"/>
              <a:t>missing → excluded from this target, not imputed.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21681" y="2683200"/>
            <a:ext cx="60887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rPr dirty="0"/>
              <a:t>• Aircraft age / seats: high coverage with small missing share → median imputation in the training pipeline.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1680" y="3488560"/>
            <a:ext cx="5303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 dirty="0"/>
              <a:t>• Aircraft model: missing values kept as “Unknown.”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21680" y="4036513"/>
            <a:ext cx="60887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rPr dirty="0"/>
              <a:t>• Weather: numeric fields median-imputed; gust keeps a separate reported/not-reported indicator.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21680" y="4859472"/>
            <a:ext cx="60887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rPr dirty="0"/>
              <a:t>• Delay-cause fields: EDA only — not model features because they are known after the outcome.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481" y="614339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2024–2025 · ~14.1M scheduled flights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91681"/>
            <a:ext cx="666958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EDA</a:t>
            </a:r>
            <a:r>
              <a:rPr lang="en-US" dirty="0"/>
              <a:t>1</a:t>
            </a:r>
            <a:r>
              <a:rPr dirty="0"/>
              <a:t>: </a:t>
            </a:r>
            <a:r>
              <a:rPr lang="en-US" dirty="0"/>
              <a:t>D</a:t>
            </a:r>
            <a:r>
              <a:rPr dirty="0"/>
              <a:t>elays </a:t>
            </a:r>
            <a:r>
              <a:rPr lang="en-US" dirty="0"/>
              <a:t>A</a:t>
            </a:r>
            <a:r>
              <a:rPr dirty="0"/>
              <a:t>re </a:t>
            </a:r>
            <a:r>
              <a:rPr lang="en-US" dirty="0"/>
              <a:t>S</a:t>
            </a:r>
            <a:r>
              <a:rPr dirty="0"/>
              <a:t>trongly </a:t>
            </a:r>
            <a:r>
              <a:rPr lang="en-US" dirty="0"/>
              <a:t>R</a:t>
            </a:r>
            <a:r>
              <a:rPr dirty="0"/>
              <a:t>ight-skewed</a:t>
            </a:r>
          </a:p>
        </p:txBody>
      </p:sp>
      <p:pic>
        <p:nvPicPr>
          <p:cNvPr id="3" name="Picture 2" descr="arrival_delay_distribution_presen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34856"/>
            <a:ext cx="7040880" cy="32929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01000" y="1617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/>
            </a:pPr>
            <a:r>
              <a:t>What I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2166376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Median arrival: 6 min early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2806455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21.6% arrive ≥15 min 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3446536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95th percentile: 87 min 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086616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99th percentile: 220 min 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5001016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/>
            </a:pPr>
            <a:r>
              <a:rPr sz="1500"/>
              <a:t>Takeaway: most flights are near schedule, but a smaller group has very large delays. The target is also imbalanced: about 22% of completed flights are delayed ≥15 min.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89320"/>
            <a:ext cx="6766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rPr dirty="0"/>
              <a:t>Plot shown over the central range for readability; extreme delays are retained in the </a:t>
            </a:r>
            <a:r>
              <a:rPr lang="en-US" dirty="0"/>
              <a:t>model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</a:rPr>
              <a:t>EDA2: Pointed to an operational mechanism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800380" y="2211230"/>
            <a:ext cx="48582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Delays become more frequent and severe later in the day. Late-aircraft delays also increase, suggesting delay carryover may be one factor.</a:t>
            </a:r>
          </a:p>
        </p:txBody>
      </p:sp>
      <p:pic>
        <p:nvPicPr>
          <p:cNvPr id="4" name="Image 0" descr="/mnt/data/flight_ppt_assets/eda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956" y="1055855"/>
            <a:ext cx="5897880" cy="289111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356015" y="3868971"/>
            <a:ext cx="4136721" cy="1033272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7589313" y="4161579"/>
            <a:ext cx="367012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/>
              <a:t>Takeaway: schedule features miss current operating conditions → test inbound-aircraft state.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18CFBC-806C-FCE1-1C32-2D56D110B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956" y="3958913"/>
            <a:ext cx="6807688" cy="27967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</a:rPr>
              <a:t>4. Feature Engineering: Add Information Only if it is Available at T−2h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117043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The main design goal was to capture operational state without leaking future outcomes.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0391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Schedule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58952" y="242316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airline, origin, destination, time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0" y="2212848"/>
            <a:ext cx="320040" cy="34747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71800" y="182880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81528" y="20391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Inbound aircraft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90672" y="242316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six availability / buffer states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92040" y="2212848"/>
            <a:ext cx="320040" cy="34747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0" y="182880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13248" y="20391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Aircraft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22392" y="242316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model, age, seats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23760" y="2212848"/>
            <a:ext cx="320040" cy="34747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5240" y="182880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44968" y="20391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Weather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54112" y="242316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latest origin observation ≤ T−2h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555480" y="2212848"/>
            <a:ext cx="320040" cy="34747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66960" y="182880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76688" y="20391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Final model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85832" y="242316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D5DB"/>
                </a:solidFill>
              </a:rPr>
              <a:t>Risk ranking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3152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Inbound aircraft state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" y="3703320"/>
            <a:ext cx="5212080" cy="1874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dirty="0"/>
              <a:t>Link flights by tail number only when the previous destination matches the current origin.</a:t>
            </a:r>
            <a:endParaRPr lang="en-US" sz="1200" dirty="0"/>
          </a:p>
          <a:p>
            <a:pPr marL="0" indent="0">
              <a:buNone/>
            </a:pPr>
            <a:br>
              <a:rPr dirty="0"/>
            </a:br>
            <a:r>
              <a:rPr sz="1200" dirty="0"/>
              <a:t>Example — current flight JFK → MIA, departs 3:00 PM; prediction time = 1:00 PM</a:t>
            </a:r>
            <a:br>
              <a:rPr dirty="0"/>
            </a:br>
            <a:r>
              <a:rPr sz="1200" dirty="0"/>
              <a:t>• Prior flight BOS → JFK arrived 12:25 PM → Already arrived</a:t>
            </a:r>
            <a:br>
              <a:rPr dirty="0"/>
            </a:br>
            <a:r>
              <a:rPr sz="1200" dirty="0"/>
              <a:t>• Prior flight was due 12:10 PM but has not arrived by 1:00 PM → Expected already — not arrived</a:t>
            </a:r>
            <a:br>
              <a:rPr dirty="0"/>
            </a:br>
            <a:r>
              <a:rPr sz="1200" dirty="0"/>
              <a:t>• Prior flight is not due yet → use scheduled turnaround buffer vs. that airline’s typical buffer</a:t>
            </a:r>
            <a:br>
              <a:rPr dirty="0"/>
            </a:br>
            <a:br>
              <a:rPr dirty="0"/>
            </a:br>
            <a:r>
              <a:rPr sz="1200" dirty="0"/>
              <a:t>Six states summarize aircraft availability and buffer risk.</a:t>
            </a:r>
          </a:p>
        </p:txBody>
      </p:sp>
      <p:sp>
        <p:nvSpPr>
          <p:cNvPr id="25" name="Text 23"/>
          <p:cNvSpPr/>
          <p:nvPr/>
        </p:nvSpPr>
        <p:spPr>
          <a:xfrm>
            <a:off x="6400800" y="3182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Weather join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0" y="3703320"/>
            <a:ext cx="4983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dirty="0"/>
              <a:t>Map weather station → airport, then take the latest origin observation at or before T−2h; maximum age = 2 hours. Coverage ≈99.8–99.9%.</a:t>
            </a:r>
            <a:br>
              <a:rPr dirty="0"/>
            </a:br>
            <a:br>
              <a:rPr dirty="0"/>
            </a:br>
            <a:r>
              <a:rPr sz="1100" dirty="0"/>
              <a:t>Weather features in plain English:</a:t>
            </a:r>
            <a:br>
              <a:rPr dirty="0"/>
            </a:br>
            <a:r>
              <a:rPr sz="1100" dirty="0"/>
              <a:t>• temperature &amp; humidity</a:t>
            </a:r>
            <a:br>
              <a:rPr dirty="0"/>
            </a:br>
            <a:r>
              <a:rPr sz="1100" dirty="0"/>
              <a:t>• wind speed / direction / gust</a:t>
            </a:r>
            <a:br>
              <a:rPr dirty="0"/>
            </a:br>
            <a:r>
              <a:rPr sz="1100" dirty="0"/>
              <a:t>• precipitation</a:t>
            </a:r>
            <a:br>
              <a:rPr dirty="0"/>
            </a:br>
            <a:r>
              <a:rPr sz="1100" dirty="0"/>
              <a:t>• visibility</a:t>
            </a:r>
            <a:br>
              <a:rPr dirty="0"/>
            </a:br>
            <a:r>
              <a:rPr sz="1100" dirty="0"/>
              <a:t>• cloud cover &amp; cloud-base height</a:t>
            </a:r>
            <a:br>
              <a:rPr dirty="0"/>
            </a:br>
            <a:r>
              <a:rPr sz="1100" dirty="0"/>
              <a:t>• weather condition code (fog, rain, thunderstorm, etc.)</a:t>
            </a:r>
            <a:br>
              <a:rPr dirty="0"/>
            </a:br>
            <a:br>
              <a:rPr dirty="0"/>
            </a:br>
            <a:r>
              <a:rPr sz="1100" dirty="0"/>
              <a:t>Example observation: 41°F, 100% humidity, 3 kt wind, 0.25 mi visibility, fog, ~100 ft cloud base.</a:t>
            </a:r>
          </a:p>
        </p:txBody>
      </p:sp>
      <p:sp>
        <p:nvSpPr>
          <p:cNvPr id="27" name="Shape 25"/>
          <p:cNvSpPr/>
          <p:nvPr/>
        </p:nvSpPr>
        <p:spPr>
          <a:xfrm>
            <a:off x="2011680" y="6004874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40280" y="6183182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7857"/>
                </a:solidFill>
              </a:rPr>
              <a:t>Leakage rule: if the information was not known by T−2h, it does not enter the feature set.</a:t>
            </a:r>
            <a:endParaRPr lang="en-US" sz="13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</a:rPr>
              <a:t>5. Better Information Mattered More Than a More Complex Algorithm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117043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Validation PR-AUC improved most when inbound-aircraft state and weather were added.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5257800"/>
            <a:ext cx="996696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329805"/>
            <a:ext cx="1234440" cy="1927995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018909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0.3178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5376672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</a:rPr>
              <a:t>Logistic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</a:rPr>
              <a:t>schedule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51760" y="3305538"/>
            <a:ext cx="1234440" cy="195226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299464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0.3218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42032" y="5376672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</a:rPr>
              <a:t>XGBoost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</a:rPr>
              <a:t>schedule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3301898"/>
            <a:ext cx="1234440" cy="195590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299100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0.3224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79392" y="5376672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</a:rPr>
              <a:t>+ Route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2848110"/>
            <a:ext cx="1234440" cy="240969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253721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0.3972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16752" y="5376672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</a:rPr>
              <a:t>+ Inbound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</a:rPr>
              <a:t>aircraft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863840" y="2811710"/>
            <a:ext cx="1234440" cy="244609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250081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0.4032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54112" y="5376672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</a:rPr>
              <a:t>+ Aircraft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</a:rPr>
              <a:t>metadata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01200" y="2341541"/>
            <a:ext cx="1234440" cy="291625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91472" y="198674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0.4807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491472" y="5376672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</a:rPr>
              <a:t>+ Weather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96000" y="1551592"/>
            <a:ext cx="333756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26812" y="168055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Main finding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26812" y="203572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Operational state &gt; model complexity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111827"/>
                </a:solidFill>
              </a:rPr>
              <a:t>6. Final Held-out Test: H</a:t>
            </a:r>
            <a:r>
              <a:rPr lang="en-US" sz="2500" b="1" dirty="0"/>
              <a:t>igh-risk Flights Are Much More Likely To Be Delayed</a:t>
            </a:r>
          </a:p>
        </p:txBody>
      </p:sp>
      <p:sp>
        <p:nvSpPr>
          <p:cNvPr id="3" name="Text 1"/>
          <p:cNvSpPr/>
          <p:nvPr/>
        </p:nvSpPr>
        <p:spPr>
          <a:xfrm>
            <a:off x="594360" y="117043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Jul–Dec 2025 was evaluated once after the feature set was frozen.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1051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11827"/>
                </a:solidFill>
              </a:rPr>
              <a:t>0.7417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14400" y="23500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</a:rPr>
              <a:t>ROC-AUC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600200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81051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11827"/>
                </a:solidFill>
              </a:rPr>
              <a:t>0.4941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474720" y="23500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</a:rPr>
              <a:t>PR-AUC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If the team can focus on only a share of flights: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7307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</a:rPr>
              <a:t>Flights targeted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97480" y="373075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</a:rPr>
              <a:t>Precision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60520" y="373075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</a:rPr>
              <a:t>Recall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40416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Top 1%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404164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86.96%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60520" y="404164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</a:rPr>
              <a:t>3.83%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45445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Top 5%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97480" y="454456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70.18%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60520" y="454456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</a:rPr>
              <a:t>15.45%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3232" y="4974336"/>
            <a:ext cx="4892040" cy="4572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0474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Top 10%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97480" y="504748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580C"/>
                </a:solidFill>
              </a:rPr>
              <a:t>60.11%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60520" y="504748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</a:rPr>
              <a:t>26.47%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55504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Top 20%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97480" y="555040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49.11%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60520" y="555040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</a:rPr>
              <a:t>43.25%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2200" y="160020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19659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30" dirty="0">
                <a:solidFill>
                  <a:srgbClr val="9CA3AF"/>
                </a:solidFill>
              </a:rPr>
              <a:t>TOP 10% EXAMPLE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37960" y="25146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60%</a:t>
            </a:r>
            <a:endParaRPr lang="en-US" sz="4200" dirty="0"/>
          </a:p>
        </p:txBody>
      </p:sp>
      <p:sp>
        <p:nvSpPr>
          <p:cNvPr id="30" name="Text 28"/>
          <p:cNvSpPr/>
          <p:nvPr/>
        </p:nvSpPr>
        <p:spPr>
          <a:xfrm>
            <a:off x="8458200" y="26243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</a:rPr>
              <a:t>of selected flights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</a:rPr>
              <a:t>were actually delayed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37960" y="37947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93C5FD"/>
                </a:solidFill>
              </a:rPr>
              <a:t>26%</a:t>
            </a:r>
            <a:endParaRPr lang="en-US" sz="4200" dirty="0"/>
          </a:p>
        </p:txBody>
      </p:sp>
      <p:sp>
        <p:nvSpPr>
          <p:cNvPr id="32" name="Text 30"/>
          <p:cNvSpPr/>
          <p:nvPr/>
        </p:nvSpPr>
        <p:spPr>
          <a:xfrm>
            <a:off x="8458200" y="390448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</a:rPr>
              <a:t>of all delayed flights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</a:rPr>
              <a:t>were captured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</a:rPr>
              <a:t>7. Recommendation: Use The Model as a T−2h Risk Ranking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120898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Deploy as decision support first; expand the feature set around information available at the decision time.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77240" y="1948661"/>
            <a:ext cx="5212080" cy="3611880"/>
          </a:xfrm>
          <a:prstGeom prst="roundRect">
            <a:avLst>
              <a:gd name="adj" fmla="val 202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76274" y="2247447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563EB"/>
                </a:solidFill>
              </a:rPr>
              <a:t>Recommended use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77442" y="2869238"/>
            <a:ext cx="4233672" cy="206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Rank flights by delay risk at T−2h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Match the cutoff to operational capacity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Use as decision support, not an automatic passenger alert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400" dirty="0"/>
              <a:t>In production, prioritize using delay risk + expected severity + business 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88354" y="1954839"/>
            <a:ext cx="516636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8394" y="2247447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</a:rPr>
              <a:t>Next steps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802272" y="2869238"/>
            <a:ext cx="438059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400" dirty="0"/>
              <a:t>Add a delay severity model to distinguish moderate vs. major delays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400" dirty="0"/>
              <a:t>Add destination weather forecasts available at T−2h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400" dirty="0"/>
              <a:t>Test congestion and more live operational signals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400" dirty="0"/>
              <a:t>Model cancellations / diversions separately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400" dirty="0"/>
              <a:t>Monitor model performance and data coverage over time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1297</TotalTime>
  <Words>956</Words>
  <Application>Microsoft Macintosh PowerPoint</Application>
  <PresentationFormat>Widescreen</PresentationFormat>
  <Paragraphs>137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U.S. Flight Delay Analysis &amp; Prediction</dc:title>
  <dc:subject>Bloomberg Data Scientist Case Study</dc:subject>
  <dc:creator>Ruiwen Zhang</dc:creator>
  <cp:lastModifiedBy>Ruiwen Zhang</cp:lastModifiedBy>
  <cp:revision>4</cp:revision>
  <dcterms:created xsi:type="dcterms:W3CDTF">2026-08-21T16:11:35Z</dcterms:created>
  <dcterms:modified xsi:type="dcterms:W3CDTF">2026-08-22T16:13:44Z</dcterms:modified>
</cp:coreProperties>
</file>